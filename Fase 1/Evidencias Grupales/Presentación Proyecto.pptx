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hFqFpRB4IgD4gFo+1dHaME+TPh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jpg"/><Relationship Id="rId4" Type="http://schemas.openxmlformats.org/officeDocument/2006/relationships/image" Target="../media/image21.jpg"/><Relationship Id="rId5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15.png"/><Relationship Id="rId6" Type="http://schemas.openxmlformats.org/officeDocument/2006/relationships/image" Target="../media/image11.png"/><Relationship Id="rId7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9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4.png"/><Relationship Id="rId7" Type="http://schemas.openxmlformats.org/officeDocument/2006/relationships/image" Target="../media/image8.png"/><Relationship Id="rId8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6.png"/><Relationship Id="rId5" Type="http://schemas.openxmlformats.org/officeDocument/2006/relationships/image" Target="../media/image6.png"/><Relationship Id="rId6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11.png"/><Relationship Id="rId6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 txBox="1"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DUOC</a:t>
            </a:r>
            <a:r>
              <a:rPr b="1" i="0" lang="en-US" sz="1200" u="none" cap="none" strike="noStrike">
                <a:solidFill>
                  <a:srgbClr val="F2B134"/>
                </a:solidFill>
                <a:latin typeface="Calibri"/>
                <a:ea typeface="Calibri"/>
                <a:cs typeface="Calibri"/>
                <a:sym typeface="Calibri"/>
              </a:rPr>
              <a:t>UC</a:t>
            </a:r>
            <a:r>
              <a:rPr b="1" i="0" lang="en-US" sz="900" u="none" cap="none" strike="noStrike">
                <a:solidFill>
                  <a:srgbClr val="C9CEE6"/>
                </a:solidFill>
                <a:latin typeface="Calibri"/>
                <a:ea typeface="Calibri"/>
                <a:cs typeface="Calibri"/>
                <a:sym typeface="Calibri"/>
              </a:rPr>
              <a:t>   |   SEDE VIÑA DEL MAR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548640" y="14173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13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2B134"/>
                </a:solidFill>
                <a:latin typeface="Calibri"/>
                <a:ea typeface="Calibri"/>
                <a:cs typeface="Calibri"/>
                <a:sym typeface="Calibri"/>
              </a:rPr>
              <a:t>PROYECTO DE TÍTULO · INGENIERÍA EN INFORMÁTICA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502920" y="1737360"/>
            <a:ext cx="91440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0"/>
              <a:buFont typeface="Cambria"/>
              <a:buNone/>
            </a:pPr>
            <a:r>
              <a:rPr b="1" i="0" lang="en-US" sz="9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SIGPA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548640" y="324612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8F5"/>
              </a:buClr>
              <a:buSzPts val="2600"/>
              <a:buFont typeface="Cambria"/>
              <a:buNone/>
            </a:pPr>
            <a:r>
              <a:rPr b="0" i="0" lang="en-US" sz="2600" u="none" cap="none" strike="noStrike">
                <a:solidFill>
                  <a:srgbClr val="E4E8F5"/>
                </a:solidFill>
                <a:latin typeface="Cambria"/>
                <a:ea typeface="Cambria"/>
                <a:cs typeface="Cambria"/>
                <a:sym typeface="Cambria"/>
              </a:rPr>
              <a:t>Sistema Integral de Gestión de Pedidos y Administración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548640" y="3794760"/>
            <a:ext cx="7498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EB7D4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AEB7D4"/>
                </a:solidFill>
                <a:latin typeface="Calibri"/>
                <a:ea typeface="Calibri"/>
                <a:cs typeface="Calibri"/>
                <a:sym typeface="Calibri"/>
              </a:rPr>
              <a:t>Gestión inteligente de pedidos y despacho para ADM, distribuidora de agua purificada en la Región de Valparaíso.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1;p1"/>
          <p:cNvCxnSpPr/>
          <p:nvPr/>
        </p:nvCxnSpPr>
        <p:spPr>
          <a:xfrm>
            <a:off x="548640" y="5989320"/>
            <a:ext cx="1106424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1"/>
          <p:cNvSpPr txBox="1"/>
          <p:nvPr/>
        </p:nvSpPr>
        <p:spPr>
          <a:xfrm>
            <a:off x="548640" y="6108192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C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3C4"/>
                </a:solidFill>
                <a:latin typeface="Calibri"/>
                <a:ea typeface="Calibri"/>
                <a:cs typeface="Calibri"/>
                <a:sym typeface="Calibri"/>
              </a:rPr>
              <a:t>Duoc UC · Sede Viña del Mar — Ingeniería en Informática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320040" y="6355080"/>
            <a:ext cx="822960" cy="292608"/>
          </a:xfrm>
          <a:prstGeom prst="roundRect">
            <a:avLst>
              <a:gd fmla="val 50000" name="adj"/>
            </a:avLst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 txBox="1"/>
          <p:nvPr/>
        </p:nvSpPr>
        <p:spPr>
          <a:xfrm>
            <a:off x="320040" y="6355080"/>
            <a:ext cx="822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 / 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9418320" y="-1463040"/>
            <a:ext cx="4755000" cy="4755000"/>
          </a:xfrm>
          <a:prstGeom prst="ellipse">
            <a:avLst/>
          </a:prstGeom>
          <a:solidFill>
            <a:srgbClr val="065A82">
              <a:alpha val="451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10607040" y="4023360"/>
            <a:ext cx="3108900" cy="3108900"/>
          </a:xfrm>
          <a:prstGeom prst="ellipse">
            <a:avLst/>
          </a:prstGeom>
          <a:solidFill>
            <a:srgbClr val="1C7293">
              <a:alpha val="451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 txBox="1"/>
          <p:nvPr/>
        </p:nvSpPr>
        <p:spPr>
          <a:xfrm>
            <a:off x="5669280" y="6108192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B13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2B134"/>
                </a:solidFill>
                <a:latin typeface="Calibri"/>
                <a:ea typeface="Calibri"/>
                <a:cs typeface="Calibri"/>
                <a:sym typeface="Calibri"/>
              </a:rPr>
              <a:t>Ariel Olivares · Felipe Gaete · Julio Cifuentes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3F6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/>
          <p:nvPr/>
        </p:nvSpPr>
        <p:spPr>
          <a:xfrm>
            <a:off x="0" y="0"/>
            <a:ext cx="4142232" cy="6858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 txBox="1"/>
          <p:nvPr/>
        </p:nvSpPr>
        <p:spPr>
          <a:xfrm>
            <a:off x="502920" y="260604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AFC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AFCB"/>
                </a:solidFill>
                <a:latin typeface="Calibri"/>
                <a:ea typeface="Calibri"/>
                <a:cs typeface="Calibri"/>
                <a:sym typeface="Calibri"/>
              </a:rPr>
              <a:t>CONTENIDO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457200" y="2880360"/>
            <a:ext cx="3383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Agenda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 txBox="1"/>
          <p:nvPr/>
        </p:nvSpPr>
        <p:spPr>
          <a:xfrm>
            <a:off x="502920" y="3520440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AEB7D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EB7D4"/>
                </a:solidFill>
                <a:latin typeface="Calibri"/>
                <a:ea typeface="Calibri"/>
                <a:cs typeface="Calibri"/>
                <a:sym typeface="Calibri"/>
              </a:rPr>
              <a:t>Recorrido de la presentación del proyecto SIGPA.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 txBox="1"/>
          <p:nvPr/>
        </p:nvSpPr>
        <p:spPr>
          <a:xfrm>
            <a:off x="502920" y="4114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DUOC</a:t>
            </a:r>
            <a:r>
              <a:rPr b="1" i="0" lang="en-US" sz="1200" u="none" cap="none" strike="noStrike">
                <a:solidFill>
                  <a:srgbClr val="F2B134"/>
                </a:solidFill>
                <a:latin typeface="Calibri"/>
                <a:ea typeface="Calibri"/>
                <a:cs typeface="Calibri"/>
                <a:sym typeface="Calibri"/>
              </a:rPr>
              <a:t>UC</a:t>
            </a:r>
            <a:r>
              <a:rPr b="1" i="0" lang="en-US" sz="900" u="none" cap="none" strike="noStrike">
                <a:solidFill>
                  <a:srgbClr val="C9CEE6"/>
                </a:solidFill>
                <a:latin typeface="Calibri"/>
                <a:ea typeface="Calibri"/>
                <a:cs typeface="Calibri"/>
                <a:sym typeface="Calibri"/>
              </a:rPr>
              <a:t>   |   SEDE VIÑA DEL MAR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 txBox="1"/>
          <p:nvPr/>
        </p:nvSpPr>
        <p:spPr>
          <a:xfrm>
            <a:off x="4709160" y="685800"/>
            <a:ext cx="777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134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2B134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 txBox="1"/>
          <p:nvPr/>
        </p:nvSpPr>
        <p:spPr>
          <a:xfrm>
            <a:off x="5577840" y="685800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Integrantes del grupo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" name="Google Shape;40;p2"/>
          <p:cNvCxnSpPr/>
          <p:nvPr/>
        </p:nvCxnSpPr>
        <p:spPr>
          <a:xfrm>
            <a:off x="4709160" y="1353312"/>
            <a:ext cx="6995160" cy="0"/>
          </a:xfrm>
          <a:prstGeom prst="straightConnector1">
            <a:avLst/>
          </a:prstGeom>
          <a:noFill/>
          <a:ln cap="flat" cmpd="sng" w="12700">
            <a:solidFill>
              <a:srgbClr val="DBE9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2"/>
          <p:cNvSpPr txBox="1"/>
          <p:nvPr/>
        </p:nvSpPr>
        <p:spPr>
          <a:xfrm>
            <a:off x="4709160" y="1408176"/>
            <a:ext cx="777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134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2B134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 txBox="1"/>
          <p:nvPr/>
        </p:nvSpPr>
        <p:spPr>
          <a:xfrm>
            <a:off x="5577840" y="1408176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" name="Google Shape;43;p2"/>
          <p:cNvCxnSpPr/>
          <p:nvPr/>
        </p:nvCxnSpPr>
        <p:spPr>
          <a:xfrm>
            <a:off x="4709160" y="2075688"/>
            <a:ext cx="6995160" cy="0"/>
          </a:xfrm>
          <a:prstGeom prst="straightConnector1">
            <a:avLst/>
          </a:prstGeom>
          <a:noFill/>
          <a:ln cap="flat" cmpd="sng" w="12700">
            <a:solidFill>
              <a:srgbClr val="DBE9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2"/>
          <p:cNvSpPr txBox="1"/>
          <p:nvPr/>
        </p:nvSpPr>
        <p:spPr>
          <a:xfrm>
            <a:off x="4709160" y="2130552"/>
            <a:ext cx="777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134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2B134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 txBox="1"/>
          <p:nvPr/>
        </p:nvSpPr>
        <p:spPr>
          <a:xfrm>
            <a:off x="5577840" y="2130552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Contexto del proyecto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" name="Google Shape;46;p2"/>
          <p:cNvCxnSpPr/>
          <p:nvPr/>
        </p:nvCxnSpPr>
        <p:spPr>
          <a:xfrm>
            <a:off x="4709160" y="2798064"/>
            <a:ext cx="6995160" cy="0"/>
          </a:xfrm>
          <a:prstGeom prst="straightConnector1">
            <a:avLst/>
          </a:prstGeom>
          <a:noFill/>
          <a:ln cap="flat" cmpd="sng" w="12700">
            <a:solidFill>
              <a:srgbClr val="DBE9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" name="Google Shape;47;p2"/>
          <p:cNvSpPr txBox="1"/>
          <p:nvPr/>
        </p:nvSpPr>
        <p:spPr>
          <a:xfrm>
            <a:off x="4709160" y="2852928"/>
            <a:ext cx="777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134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2B134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 txBox="1"/>
          <p:nvPr/>
        </p:nvSpPr>
        <p:spPr>
          <a:xfrm>
            <a:off x="5577840" y="2852928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Metodología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" name="Google Shape;49;p2"/>
          <p:cNvCxnSpPr/>
          <p:nvPr/>
        </p:nvCxnSpPr>
        <p:spPr>
          <a:xfrm>
            <a:off x="4709160" y="3520440"/>
            <a:ext cx="6995160" cy="0"/>
          </a:xfrm>
          <a:prstGeom prst="straightConnector1">
            <a:avLst/>
          </a:prstGeom>
          <a:noFill/>
          <a:ln cap="flat" cmpd="sng" w="12700">
            <a:solidFill>
              <a:srgbClr val="DBE9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" name="Google Shape;50;p2"/>
          <p:cNvSpPr txBox="1"/>
          <p:nvPr/>
        </p:nvSpPr>
        <p:spPr>
          <a:xfrm>
            <a:off x="4709160" y="3575304"/>
            <a:ext cx="777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134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2B134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 txBox="1"/>
          <p:nvPr/>
        </p:nvSpPr>
        <p:spPr>
          <a:xfrm>
            <a:off x="5577840" y="3575304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Arquitectura del sistema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" name="Google Shape;52;p2"/>
          <p:cNvCxnSpPr/>
          <p:nvPr/>
        </p:nvCxnSpPr>
        <p:spPr>
          <a:xfrm>
            <a:off x="4709160" y="4242816"/>
            <a:ext cx="6995160" cy="0"/>
          </a:xfrm>
          <a:prstGeom prst="straightConnector1">
            <a:avLst/>
          </a:prstGeom>
          <a:noFill/>
          <a:ln cap="flat" cmpd="sng" w="12700">
            <a:solidFill>
              <a:srgbClr val="DBE9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" name="Google Shape;53;p2"/>
          <p:cNvSpPr txBox="1"/>
          <p:nvPr/>
        </p:nvSpPr>
        <p:spPr>
          <a:xfrm>
            <a:off x="4709160" y="4297680"/>
            <a:ext cx="777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134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2B134"/>
                </a:solidFill>
                <a:latin typeface="Cambria"/>
                <a:ea typeface="Cambria"/>
                <a:cs typeface="Cambria"/>
                <a:sym typeface="Cambria"/>
              </a:rPr>
              <a:t>06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 txBox="1"/>
          <p:nvPr/>
        </p:nvSpPr>
        <p:spPr>
          <a:xfrm>
            <a:off x="5577840" y="4297680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Roadmap del proyecto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" name="Google Shape;55;p2"/>
          <p:cNvCxnSpPr/>
          <p:nvPr/>
        </p:nvCxnSpPr>
        <p:spPr>
          <a:xfrm>
            <a:off x="4709160" y="4965192"/>
            <a:ext cx="6995160" cy="0"/>
          </a:xfrm>
          <a:prstGeom prst="straightConnector1">
            <a:avLst/>
          </a:prstGeom>
          <a:noFill/>
          <a:ln cap="flat" cmpd="sng" w="12700">
            <a:solidFill>
              <a:srgbClr val="DBE9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" name="Google Shape;56;p2"/>
          <p:cNvSpPr txBox="1"/>
          <p:nvPr/>
        </p:nvSpPr>
        <p:spPr>
          <a:xfrm>
            <a:off x="4709160" y="5020056"/>
            <a:ext cx="777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134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2B134"/>
                </a:solidFill>
                <a:latin typeface="Cambria"/>
                <a:ea typeface="Cambria"/>
                <a:cs typeface="Cambria"/>
                <a:sym typeface="Cambria"/>
              </a:rPr>
              <a:t>07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 txBox="1"/>
          <p:nvPr/>
        </p:nvSpPr>
        <p:spPr>
          <a:xfrm>
            <a:off x="5577840" y="5020056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Épicas del proyecto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" name="Google Shape;58;p2"/>
          <p:cNvCxnSpPr/>
          <p:nvPr/>
        </p:nvCxnSpPr>
        <p:spPr>
          <a:xfrm>
            <a:off x="4709160" y="5687568"/>
            <a:ext cx="6995160" cy="0"/>
          </a:xfrm>
          <a:prstGeom prst="straightConnector1">
            <a:avLst/>
          </a:prstGeom>
          <a:noFill/>
          <a:ln cap="flat" cmpd="sng" w="12700">
            <a:solidFill>
              <a:srgbClr val="DBE9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" name="Google Shape;59;p2"/>
          <p:cNvSpPr txBox="1"/>
          <p:nvPr/>
        </p:nvSpPr>
        <p:spPr>
          <a:xfrm>
            <a:off x="4709160" y="5742432"/>
            <a:ext cx="777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134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2B134"/>
                </a:solidFill>
                <a:latin typeface="Cambria"/>
                <a:ea typeface="Cambria"/>
                <a:cs typeface="Cambria"/>
                <a:sym typeface="Cambria"/>
              </a:rPr>
              <a:t>08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5577840" y="5742432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Carta Gantt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320040" y="6355080"/>
            <a:ext cx="822960" cy="292608"/>
          </a:xfrm>
          <a:prstGeom prst="roundRect">
            <a:avLst>
              <a:gd fmla="val 50000" name="adj"/>
            </a:avLst>
          </a:prstGeom>
          <a:solidFill>
            <a:srgbClr val="062C42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 txBox="1"/>
          <p:nvPr/>
        </p:nvSpPr>
        <p:spPr>
          <a:xfrm>
            <a:off x="320040" y="6355080"/>
            <a:ext cx="822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1707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1707D"/>
                </a:solidFill>
                <a:latin typeface="Calibri"/>
                <a:ea typeface="Calibri"/>
                <a:cs typeface="Calibri"/>
                <a:sym typeface="Calibri"/>
              </a:rPr>
              <a:t>02 / 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3F6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01 · EQUIPO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 txBox="1"/>
          <p:nvPr/>
        </p:nvSpPr>
        <p:spPr>
          <a:xfrm>
            <a:off x="548640" y="749808"/>
            <a:ext cx="10058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Integrantes del grupo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 txBox="1"/>
          <p:nvPr/>
        </p:nvSpPr>
        <p:spPr>
          <a:xfrm>
            <a:off x="548640" y="13716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707D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51707D"/>
                </a:solidFill>
                <a:latin typeface="Calibri"/>
                <a:ea typeface="Calibri"/>
                <a:cs typeface="Calibri"/>
                <a:sym typeface="Calibri"/>
              </a:rPr>
              <a:t>Tres roles complementarios cubren la gestión, la integración y la arquitectura del sistema.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548640" y="2057400"/>
            <a:ext cx="3429000" cy="4160520"/>
          </a:xfrm>
          <a:prstGeom prst="roundRect">
            <a:avLst>
              <a:gd fmla="val 2667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062C42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-build/ariel.jpg" id="72" name="Google Shape;7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514600"/>
            <a:ext cx="1188720" cy="118872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3" name="Google Shape;73;p3"/>
          <p:cNvSpPr txBox="1"/>
          <p:nvPr/>
        </p:nvSpPr>
        <p:spPr>
          <a:xfrm>
            <a:off x="914400" y="3931920"/>
            <a:ext cx="2697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Ariel Olivares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 txBox="1"/>
          <p:nvPr/>
        </p:nvSpPr>
        <p:spPr>
          <a:xfrm>
            <a:off x="914400" y="4325112"/>
            <a:ext cx="2697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Project Manager / Mandante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 txBox="1"/>
          <p:nvPr/>
        </p:nvSpPr>
        <p:spPr>
          <a:xfrm>
            <a:off x="914400" y="4754880"/>
            <a:ext cx="26974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Coordinación general del proyecto, priorización y relación con el cliente ADM.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4297680" y="2057400"/>
            <a:ext cx="3429000" cy="4160520"/>
          </a:xfrm>
          <a:prstGeom prst="roundRect">
            <a:avLst>
              <a:gd fmla="val 2667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062C42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-build/felipe.jpg" id="77" name="Google Shape;7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3440" y="2514600"/>
            <a:ext cx="1188720" cy="118872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8" name="Google Shape;78;p3"/>
          <p:cNvSpPr txBox="1"/>
          <p:nvPr/>
        </p:nvSpPr>
        <p:spPr>
          <a:xfrm>
            <a:off x="4663440" y="3931920"/>
            <a:ext cx="2697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Felipe Gaete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 txBox="1"/>
          <p:nvPr/>
        </p:nvSpPr>
        <p:spPr>
          <a:xfrm>
            <a:off x="4663440" y="4325112"/>
            <a:ext cx="2697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Integración y Automatización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 txBox="1"/>
          <p:nvPr/>
        </p:nvSpPr>
        <p:spPr>
          <a:xfrm>
            <a:off x="4663440" y="4754880"/>
            <a:ext cx="26974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Integración de inteligencia artificial y automatización de procesos para optimizar la operación del negocio.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8046720" y="2057400"/>
            <a:ext cx="3429000" cy="4160520"/>
          </a:xfrm>
          <a:prstGeom prst="roundRect">
            <a:avLst>
              <a:gd fmla="val 2667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062C42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-build/julio.jpg" id="82" name="Google Shape;82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12480" y="2514600"/>
            <a:ext cx="1188720" cy="1188720"/>
          </a:xfrm>
          <a:prstGeom prst="ellipse">
            <a:avLst/>
          </a:prstGeom>
          <a:noFill/>
          <a:ln>
            <a:noFill/>
          </a:ln>
        </p:spPr>
      </p:pic>
      <p:sp>
        <p:nvSpPr>
          <p:cNvPr id="83" name="Google Shape;83;p3"/>
          <p:cNvSpPr txBox="1"/>
          <p:nvPr/>
        </p:nvSpPr>
        <p:spPr>
          <a:xfrm>
            <a:off x="8412480" y="3931920"/>
            <a:ext cx="2697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Julio Cifuentes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 txBox="1"/>
          <p:nvPr/>
        </p:nvSpPr>
        <p:spPr>
          <a:xfrm>
            <a:off x="8412480" y="4325112"/>
            <a:ext cx="2697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Arquitectura y Sistemas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 txBox="1"/>
          <p:nvPr/>
        </p:nvSpPr>
        <p:spPr>
          <a:xfrm>
            <a:off x="8412480" y="4754880"/>
            <a:ext cx="26974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Diseño de la arquitectura y desarrollo del panel administrativo.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320040" y="6355080"/>
            <a:ext cx="822960" cy="292608"/>
          </a:xfrm>
          <a:prstGeom prst="roundRect">
            <a:avLst>
              <a:gd fmla="val 50000" name="adj"/>
            </a:avLst>
          </a:prstGeom>
          <a:solidFill>
            <a:srgbClr val="062C42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 txBox="1"/>
          <p:nvPr/>
        </p:nvSpPr>
        <p:spPr>
          <a:xfrm>
            <a:off x="320040" y="6355080"/>
            <a:ext cx="822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1707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1707D"/>
                </a:solidFill>
                <a:latin typeface="Calibri"/>
                <a:ea typeface="Calibri"/>
                <a:cs typeface="Calibri"/>
                <a:sym typeface="Calibri"/>
              </a:rPr>
              <a:t>03 / 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3F6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02 · QUÉ ES SIGPA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 txBox="1"/>
          <p:nvPr/>
        </p:nvSpPr>
        <p:spPr>
          <a:xfrm>
            <a:off x="548640" y="74980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Descripción del proyecto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 txBox="1"/>
          <p:nvPr/>
        </p:nvSpPr>
        <p:spPr>
          <a:xfrm>
            <a:off x="548640" y="1371600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1034"/>
              </a:lnSpc>
              <a:spcBef>
                <a:spcPts val="0"/>
              </a:spcBef>
              <a:spcAft>
                <a:spcPts val="0"/>
              </a:spcAft>
              <a:buClr>
                <a:srgbClr val="51707D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51707D"/>
                </a:solidFill>
                <a:latin typeface="Calibri"/>
                <a:ea typeface="Calibri"/>
                <a:cs typeface="Calibri"/>
                <a:sym typeface="Calibri"/>
              </a:rPr>
              <a:t>SIGPA reemplaza el flujo manual de recepción de pedidos de ADM —hoy sostenido por WhatsApp y planillas Excel— por una plataforma con inteligencia artificial que ordena, centraliza y automatiza la operación comercial de la distribuidora.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548640" y="2148840"/>
            <a:ext cx="11064240" cy="1051560"/>
          </a:xfrm>
          <a:prstGeom prst="roundRect">
            <a:avLst>
              <a:gd fmla="val 8696" name="adj"/>
            </a:avLst>
          </a:prstGeom>
          <a:solidFill>
            <a:srgbClr val="21295C"/>
          </a:solidFill>
          <a:ln>
            <a:noFill/>
          </a:ln>
          <a:effectLst>
            <a:outerShdw blurRad="114300" rotWithShape="0" algn="bl" dir="5400000" dist="38100">
              <a:srgbClr val="062C42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-build/icons/badge-check-gold.png" id="97" name="Google Shape;9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2391156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4"/>
          <p:cNvSpPr txBox="1"/>
          <p:nvPr/>
        </p:nvSpPr>
        <p:spPr>
          <a:xfrm>
            <a:off x="1645920" y="231343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13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B134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 txBox="1"/>
          <p:nvPr/>
        </p:nvSpPr>
        <p:spPr>
          <a:xfrm>
            <a:off x="1645920" y="2587752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EDEFF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DEFF7"/>
                </a:solidFill>
                <a:latin typeface="Calibri"/>
                <a:ea typeface="Calibri"/>
                <a:cs typeface="Calibri"/>
                <a:sym typeface="Calibri"/>
              </a:rPr>
              <a:t>Digitalizar y automatizar la recepción de pedidos y la planificación de rutas de despacho de ADM, reduciendo errores manuales y tiempos administrativos.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548640" y="3520440"/>
            <a:ext cx="2606040" cy="2651760"/>
          </a:xfrm>
          <a:prstGeom prst="roundRect">
            <a:avLst>
              <a:gd fmla="val 3509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062C42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-build/icons/badge-msg-ocean.png" id="101" name="Google Shape;10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8680" y="38862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4"/>
          <p:cNvSpPr txBox="1"/>
          <p:nvPr/>
        </p:nvSpPr>
        <p:spPr>
          <a:xfrm>
            <a:off x="841248" y="4663440"/>
            <a:ext cx="2057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7241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Chatbot WhatsApp (IA)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 txBox="1"/>
          <p:nvPr/>
        </p:nvSpPr>
        <p:spPr>
          <a:xfrm>
            <a:off x="841248" y="5257800"/>
            <a:ext cx="2057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51707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1707D"/>
                </a:solidFill>
                <a:latin typeface="Calibri"/>
                <a:ea typeface="Calibri"/>
                <a:cs typeface="Calibri"/>
                <a:sym typeface="Calibri"/>
              </a:rPr>
              <a:t>Recepción conversacional de pedidos.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3383280" y="3520440"/>
            <a:ext cx="2606040" cy="2651760"/>
          </a:xfrm>
          <a:prstGeom prst="roundRect">
            <a:avLst>
              <a:gd fmla="val 3509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062C42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-build/icons/badge-monitor-teal.png" id="105" name="Google Shape;10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03320" y="38862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4"/>
          <p:cNvSpPr txBox="1"/>
          <p:nvPr/>
        </p:nvSpPr>
        <p:spPr>
          <a:xfrm>
            <a:off x="3675888" y="4663440"/>
            <a:ext cx="2057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7241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Panel administrativo web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 txBox="1"/>
          <p:nvPr/>
        </p:nvSpPr>
        <p:spPr>
          <a:xfrm>
            <a:off x="3675888" y="5257800"/>
            <a:ext cx="2057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51707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1707D"/>
                </a:solidFill>
                <a:latin typeface="Calibri"/>
                <a:ea typeface="Calibri"/>
                <a:cs typeface="Calibri"/>
                <a:sym typeface="Calibri"/>
              </a:rPr>
              <a:t>Gestión de pedidos y clientes.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6217920" y="3520440"/>
            <a:ext cx="2606040" cy="2651760"/>
          </a:xfrm>
          <a:prstGeom prst="roundRect">
            <a:avLst>
              <a:gd fmla="val 3509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062C42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-build/icons/badge-barchart-ink.png" id="109" name="Google Shape;109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37960" y="38862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4"/>
          <p:cNvSpPr txBox="1"/>
          <p:nvPr/>
        </p:nvSpPr>
        <p:spPr>
          <a:xfrm>
            <a:off x="6510528" y="4663440"/>
            <a:ext cx="2057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7241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Dashboard de ventas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 txBox="1"/>
          <p:nvPr/>
        </p:nvSpPr>
        <p:spPr>
          <a:xfrm>
            <a:off x="6510528" y="5257800"/>
            <a:ext cx="2057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51707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1707D"/>
                </a:solidFill>
                <a:latin typeface="Calibri"/>
                <a:ea typeface="Calibri"/>
                <a:cs typeface="Calibri"/>
                <a:sym typeface="Calibri"/>
              </a:rPr>
              <a:t>Indicadores comerciales.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9052560" y="3520440"/>
            <a:ext cx="2606040" cy="2651760"/>
          </a:xfrm>
          <a:prstGeom prst="roundRect">
            <a:avLst>
              <a:gd fmla="val 3509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062C42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-build/icons/badge-truck-gold.png" id="113" name="Google Shape;113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72600" y="38862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4"/>
          <p:cNvSpPr txBox="1"/>
          <p:nvPr/>
        </p:nvSpPr>
        <p:spPr>
          <a:xfrm>
            <a:off x="9345168" y="4663440"/>
            <a:ext cx="2057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7241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Automatización de rutas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9345168" y="5257800"/>
            <a:ext cx="2057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51707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1707D"/>
                </a:solidFill>
                <a:latin typeface="Calibri"/>
                <a:ea typeface="Calibri"/>
                <a:cs typeface="Calibri"/>
                <a:sym typeface="Calibri"/>
              </a:rPr>
              <a:t>Planificación de despacho con n8n.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320040" y="6355080"/>
            <a:ext cx="822960" cy="292608"/>
          </a:xfrm>
          <a:prstGeom prst="roundRect">
            <a:avLst>
              <a:gd fmla="val 50000" name="adj"/>
            </a:avLst>
          </a:prstGeom>
          <a:solidFill>
            <a:srgbClr val="062C42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 txBox="1"/>
          <p:nvPr/>
        </p:nvSpPr>
        <p:spPr>
          <a:xfrm>
            <a:off x="320040" y="6355080"/>
            <a:ext cx="822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1707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1707D"/>
                </a:solidFill>
                <a:latin typeface="Calibri"/>
                <a:ea typeface="Calibri"/>
                <a:cs typeface="Calibri"/>
                <a:sym typeface="Calibri"/>
              </a:rPr>
              <a:t>04 / 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3F6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03 · EL PUNTO DE PARTIDA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 txBox="1"/>
          <p:nvPr/>
        </p:nvSpPr>
        <p:spPr>
          <a:xfrm>
            <a:off x="548640" y="749808"/>
            <a:ext cx="10058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Contexto del proyecto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548640" y="1508760"/>
            <a:ext cx="11064240" cy="9144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062C42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-build/icons/badge-droplet-ocean.png" id="126" name="Google Shape;12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1655064"/>
            <a:ext cx="621792" cy="621792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5"/>
          <p:cNvSpPr txBox="1"/>
          <p:nvPr/>
        </p:nvSpPr>
        <p:spPr>
          <a:xfrm>
            <a:off x="1691640" y="1627632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EL CLIENTE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 txBox="1"/>
          <p:nvPr/>
        </p:nvSpPr>
        <p:spPr>
          <a:xfrm>
            <a:off x="1691640" y="1856232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ADM — Distribuidora de agua purificada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 txBox="1"/>
          <p:nvPr/>
        </p:nvSpPr>
        <p:spPr>
          <a:xfrm>
            <a:off x="1691640" y="2167128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707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1707D"/>
                </a:solidFill>
                <a:latin typeface="Calibri"/>
                <a:ea typeface="Calibri"/>
                <a:cs typeface="Calibri"/>
                <a:sym typeface="Calibri"/>
              </a:rPr>
              <a:t>Empresa real de la Región de Valparaíso, mandante del proyecto de título.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548640" y="2651760"/>
            <a:ext cx="5349240" cy="3566160"/>
          </a:xfrm>
          <a:prstGeom prst="roundRect">
            <a:avLst>
              <a:gd fmla="val 2564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062C42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548640" y="2651760"/>
            <a:ext cx="5349240" cy="640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 txBox="1"/>
          <p:nvPr/>
        </p:nvSpPr>
        <p:spPr>
          <a:xfrm>
            <a:off x="868680" y="2971800"/>
            <a:ext cx="4800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SITUACIÓN ACTUAL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-build/icons/badge-msg-ocean-sm.png" id="133" name="Google Shape;13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8680" y="34747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5"/>
          <p:cNvSpPr txBox="1"/>
          <p:nvPr/>
        </p:nvSpPr>
        <p:spPr>
          <a:xfrm>
            <a:off x="1508760" y="3429000"/>
            <a:ext cx="4114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Pedidos recibidos por WhatsApp, de forma no estructurada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-build/icons/badge-grid-ocean.png" id="135" name="Google Shape;13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8680" y="43891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5"/>
          <p:cNvSpPr txBox="1"/>
          <p:nvPr/>
        </p:nvSpPr>
        <p:spPr>
          <a:xfrm>
            <a:off x="1508760" y="4343400"/>
            <a:ext cx="4114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Consolidación manual de pedidos en planillas Excel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-build/icons/badge-truck-ocean.png" id="137" name="Google Shape;137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8680" y="53035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5"/>
          <p:cNvSpPr txBox="1"/>
          <p:nvPr/>
        </p:nvSpPr>
        <p:spPr>
          <a:xfrm>
            <a:off x="1508760" y="5257800"/>
            <a:ext cx="4114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Despachos organizados por comuna y por día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6263640" y="2651760"/>
            <a:ext cx="5349240" cy="3566160"/>
          </a:xfrm>
          <a:prstGeom prst="roundRect">
            <a:avLst>
              <a:gd fmla="val 2564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062C42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6263640" y="2651760"/>
            <a:ext cx="5349240" cy="64008"/>
          </a:xfrm>
          <a:prstGeom prst="rect">
            <a:avLst/>
          </a:prstGeom>
          <a:solidFill>
            <a:srgbClr val="F2B1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 txBox="1"/>
          <p:nvPr/>
        </p:nvSpPr>
        <p:spPr>
          <a:xfrm>
            <a:off x="6583680" y="2971800"/>
            <a:ext cx="4800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9A1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99A1F"/>
                </a:solidFill>
                <a:latin typeface="Calibri"/>
                <a:ea typeface="Calibri"/>
                <a:cs typeface="Calibri"/>
                <a:sym typeface="Calibri"/>
              </a:rPr>
              <a:t>PROBLEMÁTICA IDENTIFICADA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-build/icons/badge-edit-gold.png" id="142" name="Google Shape;142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3680" y="34747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 txBox="1"/>
          <p:nvPr/>
        </p:nvSpPr>
        <p:spPr>
          <a:xfrm>
            <a:off x="7223760" y="3429000"/>
            <a:ext cx="4114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Errores de digitación al traspasar pedidos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-build/icons/badge-clock-gold.png" id="144" name="Google Shape;144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83680" y="43891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5"/>
          <p:cNvSpPr txBox="1"/>
          <p:nvPr/>
        </p:nvSpPr>
        <p:spPr>
          <a:xfrm>
            <a:off x="7223760" y="4343400"/>
            <a:ext cx="4114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Tiempo administrativo elevado en tareas repetitivas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-build/icons/badge-barchart-gold.png" id="146" name="Google Shape;146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83680" y="53035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5"/>
          <p:cNvSpPr txBox="1"/>
          <p:nvPr/>
        </p:nvSpPr>
        <p:spPr>
          <a:xfrm>
            <a:off x="7223760" y="5257800"/>
            <a:ext cx="4114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Falta de indicadores para la toma de decisiones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320040" y="6355080"/>
            <a:ext cx="822960" cy="292608"/>
          </a:xfrm>
          <a:prstGeom prst="roundRect">
            <a:avLst>
              <a:gd fmla="val 50000" name="adj"/>
            </a:avLst>
          </a:prstGeom>
          <a:solidFill>
            <a:srgbClr val="062C42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 txBox="1"/>
          <p:nvPr/>
        </p:nvSpPr>
        <p:spPr>
          <a:xfrm>
            <a:off x="320040" y="6355080"/>
            <a:ext cx="822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1707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1707D"/>
                </a:solidFill>
                <a:latin typeface="Calibri"/>
                <a:ea typeface="Calibri"/>
                <a:cs typeface="Calibri"/>
                <a:sym typeface="Calibri"/>
              </a:rPr>
              <a:t>05 / 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3F6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04 · CÓMO TRABAJAMOS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 txBox="1"/>
          <p:nvPr/>
        </p:nvSpPr>
        <p:spPr>
          <a:xfrm>
            <a:off x="548640" y="74980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Metodología: Kanban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707D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51707D"/>
                </a:solidFill>
                <a:latin typeface="Calibri"/>
                <a:ea typeface="Calibri"/>
                <a:cs typeface="Calibri"/>
                <a:sym typeface="Calibri"/>
              </a:rPr>
              <a:t>El equipo gestiona el proyecto con un tablero Kanban de flujo continuo y límites de trabajo en curso (WIP), sin sprints fijos.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548640" y="2057400"/>
            <a:ext cx="2606040" cy="502920"/>
          </a:xfrm>
          <a:prstGeom prst="roundRect">
            <a:avLst>
              <a:gd fmla="val 14545" name="adj"/>
            </a:avLst>
          </a:prstGeom>
          <a:solidFill>
            <a:srgbClr val="DBE9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 txBox="1"/>
          <p:nvPr/>
        </p:nvSpPr>
        <p:spPr>
          <a:xfrm>
            <a:off x="548640" y="2057400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Por hacer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548640" y="2697480"/>
            <a:ext cx="2606040" cy="502920"/>
          </a:xfrm>
          <a:prstGeom prst="roundRect">
            <a:avLst>
              <a:gd fmla="val 14545" name="adj"/>
            </a:avLst>
          </a:prstGeom>
          <a:solidFill>
            <a:srgbClr val="FFFFFF"/>
          </a:solidFill>
          <a:ln cap="flat" cmpd="sng" w="12700">
            <a:solidFill>
              <a:srgbClr val="DBE9ED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62C42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 txBox="1"/>
          <p:nvPr/>
        </p:nvSpPr>
        <p:spPr>
          <a:xfrm>
            <a:off x="685800" y="2697480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Backlog priorizado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548640" y="3319272"/>
            <a:ext cx="2606040" cy="502920"/>
          </a:xfrm>
          <a:prstGeom prst="roundRect">
            <a:avLst>
              <a:gd fmla="val 14545" name="adj"/>
            </a:avLst>
          </a:prstGeom>
          <a:solidFill>
            <a:srgbClr val="FFFFFF"/>
          </a:solidFill>
          <a:ln cap="flat" cmpd="sng" w="12700">
            <a:solidFill>
              <a:srgbClr val="DBE9ED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62C42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 txBox="1"/>
          <p:nvPr/>
        </p:nvSpPr>
        <p:spPr>
          <a:xfrm>
            <a:off x="685800" y="3319272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Requerimientos nuevos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3383280" y="2057400"/>
            <a:ext cx="2606040" cy="502920"/>
          </a:xfrm>
          <a:prstGeom prst="roundRect">
            <a:avLst>
              <a:gd fmla="val 14545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 txBox="1"/>
          <p:nvPr/>
        </p:nvSpPr>
        <p:spPr>
          <a:xfrm>
            <a:off x="3383280" y="2057400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 desarrollo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3383280" y="2697480"/>
            <a:ext cx="2606040" cy="502920"/>
          </a:xfrm>
          <a:prstGeom prst="roundRect">
            <a:avLst>
              <a:gd fmla="val 14545" name="adj"/>
            </a:avLst>
          </a:prstGeom>
          <a:solidFill>
            <a:srgbClr val="FFFFFF"/>
          </a:solidFill>
          <a:ln cap="flat" cmpd="sng" w="12700">
            <a:solidFill>
              <a:srgbClr val="DBE9ED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62C42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 txBox="1"/>
          <p:nvPr/>
        </p:nvSpPr>
        <p:spPr>
          <a:xfrm>
            <a:off x="3520440" y="2697480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Tareas activas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3383280" y="3319272"/>
            <a:ext cx="2606040" cy="502920"/>
          </a:xfrm>
          <a:prstGeom prst="roundRect">
            <a:avLst>
              <a:gd fmla="val 14545" name="adj"/>
            </a:avLst>
          </a:prstGeom>
          <a:solidFill>
            <a:srgbClr val="FFFFFF"/>
          </a:solidFill>
          <a:ln cap="flat" cmpd="sng" w="12700">
            <a:solidFill>
              <a:srgbClr val="DBE9ED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62C42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 txBox="1"/>
          <p:nvPr/>
        </p:nvSpPr>
        <p:spPr>
          <a:xfrm>
            <a:off x="3520440" y="3319272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Límite WIP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6217920" y="2057400"/>
            <a:ext cx="2606040" cy="502920"/>
          </a:xfrm>
          <a:prstGeom prst="roundRect">
            <a:avLst>
              <a:gd fmla="val 14545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 txBox="1"/>
          <p:nvPr/>
        </p:nvSpPr>
        <p:spPr>
          <a:xfrm>
            <a:off x="6217920" y="2057400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 pruebas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6217920" y="2697480"/>
            <a:ext cx="2606040" cy="502920"/>
          </a:xfrm>
          <a:prstGeom prst="roundRect">
            <a:avLst>
              <a:gd fmla="val 14545" name="adj"/>
            </a:avLst>
          </a:prstGeom>
          <a:solidFill>
            <a:srgbClr val="FFFFFF"/>
          </a:solidFill>
          <a:ln cap="flat" cmpd="sng" w="12700">
            <a:solidFill>
              <a:srgbClr val="DBE9ED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62C42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"/>
          <p:cNvSpPr txBox="1"/>
          <p:nvPr/>
        </p:nvSpPr>
        <p:spPr>
          <a:xfrm>
            <a:off x="6355080" y="2697480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Validación funcional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6217920" y="3319272"/>
            <a:ext cx="2606040" cy="502920"/>
          </a:xfrm>
          <a:prstGeom prst="roundRect">
            <a:avLst>
              <a:gd fmla="val 14545" name="adj"/>
            </a:avLst>
          </a:prstGeom>
          <a:solidFill>
            <a:srgbClr val="FFFFFF"/>
          </a:solidFill>
          <a:ln cap="flat" cmpd="sng" w="12700">
            <a:solidFill>
              <a:srgbClr val="DBE9ED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62C42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 txBox="1"/>
          <p:nvPr/>
        </p:nvSpPr>
        <p:spPr>
          <a:xfrm>
            <a:off x="6355080" y="3319272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Revisión de equipo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9052560" y="2057400"/>
            <a:ext cx="2606040" cy="502920"/>
          </a:xfrm>
          <a:prstGeom prst="roundRect">
            <a:avLst>
              <a:gd fmla="val 14545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 txBox="1"/>
          <p:nvPr/>
        </p:nvSpPr>
        <p:spPr>
          <a:xfrm>
            <a:off x="9052560" y="2057400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Completado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9052560" y="2697480"/>
            <a:ext cx="2606040" cy="502920"/>
          </a:xfrm>
          <a:prstGeom prst="roundRect">
            <a:avLst>
              <a:gd fmla="val 14545" name="adj"/>
            </a:avLst>
          </a:prstGeom>
          <a:solidFill>
            <a:srgbClr val="FFFFFF"/>
          </a:solidFill>
          <a:ln cap="flat" cmpd="sng" w="12700">
            <a:solidFill>
              <a:srgbClr val="DBE9ED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62C42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 txBox="1"/>
          <p:nvPr/>
        </p:nvSpPr>
        <p:spPr>
          <a:xfrm>
            <a:off x="9189720" y="2697480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Incremento validado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9052560" y="3319272"/>
            <a:ext cx="2606040" cy="502920"/>
          </a:xfrm>
          <a:prstGeom prst="roundRect">
            <a:avLst>
              <a:gd fmla="val 14545" name="adj"/>
            </a:avLst>
          </a:prstGeom>
          <a:solidFill>
            <a:srgbClr val="FFFFFF"/>
          </a:solidFill>
          <a:ln cap="flat" cmpd="sng" w="12700">
            <a:solidFill>
              <a:srgbClr val="DBE9ED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62C42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 txBox="1"/>
          <p:nvPr/>
        </p:nvSpPr>
        <p:spPr>
          <a:xfrm>
            <a:off x="9189720" y="3319272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Listo para entrega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548640" y="4160520"/>
            <a:ext cx="2606040" cy="1691640"/>
          </a:xfrm>
          <a:prstGeom prst="roundRect">
            <a:avLst>
              <a:gd fmla="val 5405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062C42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-build/icons/badge-refresh-ocean.png" id="183" name="Google Shape;18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8196" y="4434840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6"/>
          <p:cNvSpPr txBox="1"/>
          <p:nvPr/>
        </p:nvSpPr>
        <p:spPr>
          <a:xfrm>
            <a:off x="731520" y="5120640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Flujo continuo, sin sprints fijos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3383280" y="4160520"/>
            <a:ext cx="2606040" cy="1691640"/>
          </a:xfrm>
          <a:prstGeom prst="roundRect">
            <a:avLst>
              <a:gd fmla="val 5405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062C42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-build/icons/badge-activity-teal.png" id="186" name="Google Shape;18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02836" y="4434840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6"/>
          <p:cNvSpPr txBox="1"/>
          <p:nvPr/>
        </p:nvSpPr>
        <p:spPr>
          <a:xfrm>
            <a:off x="3566160" y="5120640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Límites de trabajo en curso (WIP)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6217920" y="4160520"/>
            <a:ext cx="2606040" cy="1691640"/>
          </a:xfrm>
          <a:prstGeom prst="roundRect">
            <a:avLst>
              <a:gd fmla="val 5405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062C42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-build/icons/badge-calendar-gold.png" id="189" name="Google Shape;18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37476" y="4434840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6"/>
          <p:cNvSpPr txBox="1"/>
          <p:nvPr/>
        </p:nvSpPr>
        <p:spPr>
          <a:xfrm>
            <a:off x="6400800" y="5120640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Contacto periódico con Comercial De María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9052560" y="4160520"/>
            <a:ext cx="2606040" cy="1691640"/>
          </a:xfrm>
          <a:prstGeom prst="roundRect">
            <a:avLst>
              <a:gd fmla="val 5405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062C42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-build/icons/badge-trending-ink.png" id="192" name="Google Shape;19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72116" y="4434840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6"/>
          <p:cNvSpPr txBox="1"/>
          <p:nvPr/>
        </p:nvSpPr>
        <p:spPr>
          <a:xfrm>
            <a:off x="9235440" y="5120640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Mejora continua del flujo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320040" y="6355080"/>
            <a:ext cx="822960" cy="292608"/>
          </a:xfrm>
          <a:prstGeom prst="roundRect">
            <a:avLst>
              <a:gd fmla="val 50000" name="adj"/>
            </a:avLst>
          </a:prstGeom>
          <a:solidFill>
            <a:srgbClr val="062C42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"/>
          <p:cNvSpPr txBox="1"/>
          <p:nvPr/>
        </p:nvSpPr>
        <p:spPr>
          <a:xfrm>
            <a:off x="320040" y="6355080"/>
            <a:ext cx="822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1707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1707D"/>
                </a:solidFill>
                <a:latin typeface="Calibri"/>
                <a:ea typeface="Calibri"/>
                <a:cs typeface="Calibri"/>
                <a:sym typeface="Calibri"/>
              </a:rPr>
              <a:t>06 / 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3F6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05 · CÓMO SE CONSTRUYE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 txBox="1"/>
          <p:nvPr/>
        </p:nvSpPr>
        <p:spPr>
          <a:xfrm>
            <a:off x="548640" y="74980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Arquitectura del sistema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655350" y="1435600"/>
            <a:ext cx="10787100" cy="4965300"/>
          </a:xfrm>
          <a:prstGeom prst="roundRect">
            <a:avLst>
              <a:gd fmla="val 2667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062C42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320040" y="6355080"/>
            <a:ext cx="822960" cy="292608"/>
          </a:xfrm>
          <a:prstGeom prst="roundRect">
            <a:avLst>
              <a:gd fmla="val 50000" name="adj"/>
            </a:avLst>
          </a:prstGeom>
          <a:solidFill>
            <a:srgbClr val="062C42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"/>
          <p:cNvSpPr txBox="1"/>
          <p:nvPr/>
        </p:nvSpPr>
        <p:spPr>
          <a:xfrm>
            <a:off x="320040" y="6355080"/>
            <a:ext cx="822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1707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1707D"/>
                </a:solidFill>
                <a:latin typeface="Calibri"/>
                <a:ea typeface="Calibri"/>
                <a:cs typeface="Calibri"/>
                <a:sym typeface="Calibri"/>
              </a:rPr>
              <a:t>07 / 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7" title="Gemini_Generated_Image_mav3w4mav3w4mav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5850" y="1435600"/>
            <a:ext cx="8896139" cy="496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13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2B134"/>
                </a:solidFill>
                <a:latin typeface="Calibri"/>
                <a:ea typeface="Calibri"/>
                <a:cs typeface="Calibri"/>
                <a:sym typeface="Calibri"/>
              </a:rPr>
              <a:t>06 · CUÁNDO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 txBox="1"/>
          <p:nvPr/>
        </p:nvSpPr>
        <p:spPr>
          <a:xfrm>
            <a:off x="548640" y="74980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Roadmap del proyecto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4" name="Google Shape;214;p8"/>
          <p:cNvCxnSpPr/>
          <p:nvPr/>
        </p:nvCxnSpPr>
        <p:spPr>
          <a:xfrm>
            <a:off x="1188720" y="2148840"/>
            <a:ext cx="9784080" cy="0"/>
          </a:xfrm>
          <a:prstGeom prst="straightConnector1">
            <a:avLst/>
          </a:prstGeom>
          <a:noFill/>
          <a:ln cap="flat" cmpd="sng" w="19050">
            <a:solidFill>
              <a:srgbClr val="FFFFFF">
                <a:alpha val="2196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" name="Google Shape;215;p8"/>
          <p:cNvSpPr/>
          <p:nvPr/>
        </p:nvSpPr>
        <p:spPr>
          <a:xfrm>
            <a:off x="2410816" y="2029968"/>
            <a:ext cx="237744" cy="237744"/>
          </a:xfrm>
          <a:prstGeom prst="ellipse">
            <a:avLst/>
          </a:prstGeom>
          <a:solidFill>
            <a:srgbClr val="065A82"/>
          </a:solidFill>
          <a:ln cap="flat" cmpd="sng" w="50800">
            <a:solidFill>
              <a:srgbClr val="171D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906628" y="2468880"/>
            <a:ext cx="3246120" cy="3794760"/>
          </a:xfrm>
          <a:prstGeom prst="roundRect">
            <a:avLst>
              <a:gd fmla="val 3380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062C42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"/>
          <p:cNvSpPr txBox="1"/>
          <p:nvPr/>
        </p:nvSpPr>
        <p:spPr>
          <a:xfrm>
            <a:off x="1180948" y="2724912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FASE 1 · S1–S4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 txBox="1"/>
          <p:nvPr/>
        </p:nvSpPr>
        <p:spPr>
          <a:xfrm>
            <a:off x="1180948" y="3017520"/>
            <a:ext cx="2697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Definición y planificación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 txBox="1"/>
          <p:nvPr/>
        </p:nvSpPr>
        <p:spPr>
          <a:xfrm>
            <a:off x="1180948" y="3703320"/>
            <a:ext cx="269748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Definición y alcance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1B2A33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Organización del equipo / Kanban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1B2A33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Levantamiento de requerimientos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1B2A33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Diseño inicial de arquitectura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5976976" y="2029968"/>
            <a:ext cx="237744" cy="237744"/>
          </a:xfrm>
          <a:prstGeom prst="ellipse">
            <a:avLst/>
          </a:prstGeom>
          <a:solidFill>
            <a:srgbClr val="F2B134"/>
          </a:solidFill>
          <a:ln cap="flat" cmpd="sng" w="50800">
            <a:solidFill>
              <a:srgbClr val="171D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4472788" y="2468880"/>
            <a:ext cx="3246120" cy="3794760"/>
          </a:xfrm>
          <a:prstGeom prst="roundRect">
            <a:avLst>
              <a:gd fmla="val 3380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062C42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"/>
          <p:cNvSpPr txBox="1"/>
          <p:nvPr/>
        </p:nvSpPr>
        <p:spPr>
          <a:xfrm>
            <a:off x="4747108" y="2724912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9A1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99A1F"/>
                </a:solidFill>
                <a:latin typeface="Calibri"/>
                <a:ea typeface="Calibri"/>
                <a:cs typeface="Calibri"/>
                <a:sym typeface="Calibri"/>
              </a:rPr>
              <a:t>FASE 2 · S5–S15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 txBox="1"/>
          <p:nvPr/>
        </p:nvSpPr>
        <p:spPr>
          <a:xfrm>
            <a:off x="4747108" y="3017520"/>
            <a:ext cx="2697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Desarrollo e integración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 txBox="1"/>
          <p:nvPr/>
        </p:nvSpPr>
        <p:spPr>
          <a:xfrm>
            <a:off x="4747108" y="3703320"/>
            <a:ext cx="269748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Integración WhatsApp Business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1B2A33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Backend y motor de 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1B2A33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Módulo de pedidos y panel admin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1B2A33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Automatización de rutas (n8n)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1B2A33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Informe de avance · S15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9543136" y="2029968"/>
            <a:ext cx="237744" cy="237744"/>
          </a:xfrm>
          <a:prstGeom prst="ellipse">
            <a:avLst/>
          </a:prstGeom>
          <a:solidFill>
            <a:srgbClr val="065A82"/>
          </a:solidFill>
          <a:ln cap="flat" cmpd="sng" w="50800">
            <a:solidFill>
              <a:srgbClr val="171D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8038948" y="2468880"/>
            <a:ext cx="3246120" cy="3794760"/>
          </a:xfrm>
          <a:prstGeom prst="roundRect">
            <a:avLst>
              <a:gd fmla="val 3380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062C42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"/>
          <p:cNvSpPr txBox="1"/>
          <p:nvPr/>
        </p:nvSpPr>
        <p:spPr>
          <a:xfrm>
            <a:off x="8313268" y="2724912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FASE 3 · S16–S18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 txBox="1"/>
          <p:nvPr/>
        </p:nvSpPr>
        <p:spPr>
          <a:xfrm>
            <a:off x="8313268" y="3017520"/>
            <a:ext cx="2697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Validación y cierre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 txBox="1"/>
          <p:nvPr/>
        </p:nvSpPr>
        <p:spPr>
          <a:xfrm>
            <a:off x="8313268" y="3703320"/>
            <a:ext cx="269748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Integración y pruebas finales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1B2A33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Evaluación de resultados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1B2A33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Informe final y cierre · S18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320040" y="6355080"/>
            <a:ext cx="822960" cy="292608"/>
          </a:xfrm>
          <a:prstGeom prst="roundRect">
            <a:avLst>
              <a:gd fmla="val 50000" name="adj"/>
            </a:avLst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"/>
          <p:cNvSpPr txBox="1"/>
          <p:nvPr/>
        </p:nvSpPr>
        <p:spPr>
          <a:xfrm>
            <a:off x="320040" y="6355080"/>
            <a:ext cx="822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 / 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3F6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07 · ALCANCE FUNCIONAL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 txBox="1"/>
          <p:nvPr/>
        </p:nvSpPr>
        <p:spPr>
          <a:xfrm>
            <a:off x="548640" y="74980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Épicas del proyecto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 txBox="1"/>
          <p:nvPr/>
        </p:nvSpPr>
        <p:spPr>
          <a:xfrm>
            <a:off x="548640" y="13716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707D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51707D"/>
                </a:solidFill>
                <a:latin typeface="Calibri"/>
                <a:ea typeface="Calibri"/>
                <a:cs typeface="Calibri"/>
                <a:sym typeface="Calibri"/>
              </a:rPr>
              <a:t>Priorización MoSCoW.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548640" y="1965960"/>
            <a:ext cx="5349240" cy="196596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062C42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-build/icons/badge-msg-ocean-epic.png" id="241" name="Google Shape;24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225856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9"/>
          <p:cNvSpPr txBox="1"/>
          <p:nvPr/>
        </p:nvSpPr>
        <p:spPr>
          <a:xfrm>
            <a:off x="1554480" y="2276856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EP-01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4160520" y="2276856"/>
            <a:ext cx="1417320" cy="347472"/>
          </a:xfrm>
          <a:prstGeom prst="roundRect">
            <a:avLst>
              <a:gd fmla="val 50000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"/>
          <p:cNvSpPr txBox="1"/>
          <p:nvPr/>
        </p:nvSpPr>
        <p:spPr>
          <a:xfrm>
            <a:off x="4160520" y="2276856"/>
            <a:ext cx="1417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Must have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 txBox="1"/>
          <p:nvPr/>
        </p:nvSpPr>
        <p:spPr>
          <a:xfrm>
            <a:off x="868680" y="2926080"/>
            <a:ext cx="4709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Chatbot conversacional en WhatsApp para la recepción de pedidos.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6263640" y="1965960"/>
            <a:ext cx="5349240" cy="196596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062C42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-build/icons/badge-monitor-teal-epic.png" id="247" name="Google Shape;24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680" y="225856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9"/>
          <p:cNvSpPr txBox="1"/>
          <p:nvPr/>
        </p:nvSpPr>
        <p:spPr>
          <a:xfrm>
            <a:off x="7269480" y="2276856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EP-02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9875520" y="2276856"/>
            <a:ext cx="1417320" cy="347472"/>
          </a:xfrm>
          <a:prstGeom prst="roundRect">
            <a:avLst>
              <a:gd fmla="val 50000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9"/>
          <p:cNvSpPr txBox="1"/>
          <p:nvPr/>
        </p:nvSpPr>
        <p:spPr>
          <a:xfrm>
            <a:off x="9875520" y="2276856"/>
            <a:ext cx="1417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Must have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 txBox="1"/>
          <p:nvPr/>
        </p:nvSpPr>
        <p:spPr>
          <a:xfrm>
            <a:off x="6583680" y="2926080"/>
            <a:ext cx="4709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Panel administrativo web para la gestión de pedidos y clientes.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548640" y="4206240"/>
            <a:ext cx="5349240" cy="196596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062C42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-build/icons/badge-barchart-ink-epic.png" id="253" name="Google Shape;25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8680" y="449884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9"/>
          <p:cNvSpPr txBox="1"/>
          <p:nvPr/>
        </p:nvSpPr>
        <p:spPr>
          <a:xfrm>
            <a:off x="1554480" y="4517136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EP-03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4160520" y="4517136"/>
            <a:ext cx="1417320" cy="347472"/>
          </a:xfrm>
          <a:prstGeom prst="roundRect">
            <a:avLst>
              <a:gd fmla="val 50000" name="adj"/>
            </a:avLst>
          </a:prstGeom>
          <a:solidFill>
            <a:srgbClr val="D99A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9"/>
          <p:cNvSpPr txBox="1"/>
          <p:nvPr/>
        </p:nvSpPr>
        <p:spPr>
          <a:xfrm>
            <a:off x="4160520" y="4517136"/>
            <a:ext cx="1417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Should have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 txBox="1"/>
          <p:nvPr/>
        </p:nvSpPr>
        <p:spPr>
          <a:xfrm>
            <a:off x="868680" y="5166360"/>
            <a:ext cx="4709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Dashboard de ventas con indicadores comerciales.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6263640" y="4206240"/>
            <a:ext cx="5349240" cy="196596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062C42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-build/icons/badge-truck-gold-epic.png" id="259" name="Google Shape;259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83680" y="449884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9"/>
          <p:cNvSpPr txBox="1"/>
          <p:nvPr/>
        </p:nvSpPr>
        <p:spPr>
          <a:xfrm>
            <a:off x="7269480" y="4517136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EP-04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9875520" y="4517136"/>
            <a:ext cx="1417320" cy="347472"/>
          </a:xfrm>
          <a:prstGeom prst="roundRect">
            <a:avLst>
              <a:gd fmla="val 50000" name="adj"/>
            </a:avLst>
          </a:prstGeom>
          <a:solidFill>
            <a:srgbClr val="D99A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"/>
          <p:cNvSpPr txBox="1"/>
          <p:nvPr/>
        </p:nvSpPr>
        <p:spPr>
          <a:xfrm>
            <a:off x="9875520" y="4517136"/>
            <a:ext cx="1417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Could </a:t>
            </a: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have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 txBox="1"/>
          <p:nvPr/>
        </p:nvSpPr>
        <p:spPr>
          <a:xfrm>
            <a:off x="6583680" y="5166360"/>
            <a:ext cx="4709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Optimización y automatización de rutas de despacho.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320040" y="6355080"/>
            <a:ext cx="822960" cy="292608"/>
          </a:xfrm>
          <a:prstGeom prst="roundRect">
            <a:avLst>
              <a:gd fmla="val 50000" name="adj"/>
            </a:avLst>
          </a:prstGeom>
          <a:solidFill>
            <a:srgbClr val="062C42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9"/>
          <p:cNvSpPr txBox="1"/>
          <p:nvPr/>
        </p:nvSpPr>
        <p:spPr>
          <a:xfrm>
            <a:off x="320040" y="6355080"/>
            <a:ext cx="822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1707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1707D"/>
                </a:solidFill>
                <a:latin typeface="Calibri"/>
                <a:ea typeface="Calibri"/>
                <a:cs typeface="Calibri"/>
                <a:sym typeface="Calibri"/>
              </a:rPr>
              <a:t>09 / 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3F6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0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08 · PLANIFICACIÓN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 txBox="1"/>
          <p:nvPr/>
        </p:nvSpPr>
        <p:spPr>
          <a:xfrm>
            <a:off x="548640" y="74980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Carta Gantt del proyecto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-build/gantt-chart.png" id="273" name="Google Shape;27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8203" y="1554480"/>
            <a:ext cx="9775289" cy="489204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0"/>
          <p:cNvSpPr/>
          <p:nvPr/>
        </p:nvSpPr>
        <p:spPr>
          <a:xfrm>
            <a:off x="320040" y="6355080"/>
            <a:ext cx="822960" cy="292608"/>
          </a:xfrm>
          <a:prstGeom prst="roundRect">
            <a:avLst>
              <a:gd fmla="val 50000" name="adj"/>
            </a:avLst>
          </a:prstGeom>
          <a:solidFill>
            <a:srgbClr val="062C42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0"/>
          <p:cNvSpPr txBox="1"/>
          <p:nvPr/>
        </p:nvSpPr>
        <p:spPr>
          <a:xfrm>
            <a:off x="320040" y="6355080"/>
            <a:ext cx="822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1707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1707D"/>
                </a:solidFill>
                <a:latin typeface="Calibri"/>
                <a:ea typeface="Calibri"/>
                <a:cs typeface="Calibri"/>
                <a:sym typeface="Calibri"/>
              </a:rPr>
              <a:t>10 / 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1"/>
          <p:cNvSpPr txBox="1"/>
          <p:nvPr/>
        </p:nvSpPr>
        <p:spPr>
          <a:xfrm>
            <a:off x="0" y="1828800"/>
            <a:ext cx="1219169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Cambria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Gracias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 txBox="1"/>
          <p:nvPr/>
        </p:nvSpPr>
        <p:spPr>
          <a:xfrm>
            <a:off x="0" y="3154680"/>
            <a:ext cx="121916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DCEE"/>
              </a:buClr>
              <a:buSzPts val="2000"/>
              <a:buFont typeface="Cambria"/>
              <a:buNone/>
            </a:pPr>
            <a:r>
              <a:rPr b="0" i="0" lang="en-US" sz="2000" u="none" cap="none" strike="noStrike">
                <a:solidFill>
                  <a:srgbClr val="D8DCEE"/>
                </a:solidFill>
                <a:latin typeface="Cambria"/>
                <a:ea typeface="Cambria"/>
                <a:cs typeface="Cambria"/>
                <a:sym typeface="Cambria"/>
              </a:rPr>
              <a:t>Sistema Integral de Gestión de Pedidos y Administración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 txBox="1"/>
          <p:nvPr/>
        </p:nvSpPr>
        <p:spPr>
          <a:xfrm>
            <a:off x="0" y="3703320"/>
            <a:ext cx="121916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B134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2B134"/>
                </a:solidFill>
                <a:latin typeface="Calibri"/>
                <a:ea typeface="Calibri"/>
                <a:cs typeface="Calibri"/>
                <a:sym typeface="Calibri"/>
              </a:rPr>
              <a:t>Preguntas y comentarios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4" name="Google Shape;284;p11"/>
          <p:cNvCxnSpPr/>
          <p:nvPr/>
        </p:nvCxnSpPr>
        <p:spPr>
          <a:xfrm>
            <a:off x="4632808" y="4343400"/>
            <a:ext cx="292608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5" name="Google Shape;285;p11"/>
          <p:cNvSpPr txBox="1"/>
          <p:nvPr/>
        </p:nvSpPr>
        <p:spPr>
          <a:xfrm>
            <a:off x="0" y="4526280"/>
            <a:ext cx="121916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4E8F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4E8F5"/>
                </a:solidFill>
                <a:latin typeface="Calibri"/>
                <a:ea typeface="Calibri"/>
                <a:cs typeface="Calibri"/>
                <a:sym typeface="Calibri"/>
              </a:rPr>
              <a:t>Ariel Olivares · Felipe Gaete · Julio Cifuentes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 txBox="1"/>
          <p:nvPr/>
        </p:nvSpPr>
        <p:spPr>
          <a:xfrm>
            <a:off x="0" y="4937760"/>
            <a:ext cx="121916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DUOC</a:t>
            </a:r>
            <a:r>
              <a:rPr b="1" i="0" lang="en-US" sz="1200" u="none" cap="none" strike="noStrike">
                <a:solidFill>
                  <a:srgbClr val="F2B134"/>
                </a:solidFill>
                <a:latin typeface="Calibri"/>
                <a:ea typeface="Calibri"/>
                <a:cs typeface="Calibri"/>
                <a:sym typeface="Calibri"/>
              </a:rPr>
              <a:t>UC</a:t>
            </a:r>
            <a:r>
              <a:rPr b="1" i="0" lang="en-US" sz="900" u="none" cap="none" strike="noStrike">
                <a:solidFill>
                  <a:srgbClr val="C9CEE6"/>
                </a:solidFill>
                <a:latin typeface="Calibri"/>
                <a:ea typeface="Calibri"/>
                <a:cs typeface="Calibri"/>
                <a:sym typeface="Calibri"/>
              </a:rPr>
              <a:t>   |   SEDE VIÑA DEL MAR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320040" y="6355080"/>
            <a:ext cx="822960" cy="292608"/>
          </a:xfrm>
          <a:prstGeom prst="roundRect">
            <a:avLst>
              <a:gd fmla="val 50000" name="adj"/>
            </a:avLst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1"/>
          <p:cNvSpPr txBox="1"/>
          <p:nvPr/>
        </p:nvSpPr>
        <p:spPr>
          <a:xfrm>
            <a:off x="320040" y="6355080"/>
            <a:ext cx="822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 / 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2026-09-01T02:09:00Z</dcterms:created>
  <dc:creator>PptxGenJS</dc:creator>
</cp:coreProperties>
</file>